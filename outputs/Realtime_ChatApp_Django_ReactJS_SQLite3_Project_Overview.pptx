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172f659244f49" /><Relationship Type="http://schemas.openxmlformats.org/officeDocument/2006/relationships/extended-properties" Target="/docProps/app.xml" Id="Ra2d17ae4014247a3" /><Relationship Type="http://schemas.openxmlformats.org/officeDocument/2006/relationships/officeDocument" Target="/ppt/presentation.xml" Id="R125594bf5cd143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82f33aab1442c8"/>
  </p:sldMasterIdLst>
  <p:notesMasterIdLst>
    <p:notesMasterId xmlns:r="http://schemas.openxmlformats.org/officeDocument/2006/relationships" r:id="Ra0b4de4e23354732"/>
  </p:notesMasterIdLst>
  <p:sldIdLst>
    <p:sldId xmlns:r="http://schemas.openxmlformats.org/officeDocument/2006/relationships" id="256" r:id="R5224fcbd931340e2"/>
    <p:sldId xmlns:r="http://schemas.openxmlformats.org/officeDocument/2006/relationships" id="257" r:id="R501a97d3f0c44d6a"/>
    <p:sldId xmlns:r="http://schemas.openxmlformats.org/officeDocument/2006/relationships" id="258" r:id="Ra23122bd462a431c"/>
    <p:sldId xmlns:r="http://schemas.openxmlformats.org/officeDocument/2006/relationships" id="259" r:id="R6e191ab9c2984756"/>
    <p:sldId xmlns:r="http://schemas.openxmlformats.org/officeDocument/2006/relationships" id="260" r:id="Rd96c8b4be221415a"/>
    <p:sldId xmlns:r="http://schemas.openxmlformats.org/officeDocument/2006/relationships" id="261" r:id="R3675a1d8d69a4638"/>
    <p:sldId xmlns:r="http://schemas.openxmlformats.org/officeDocument/2006/relationships" id="262" r:id="R0c55724845ee4dce"/>
    <p:sldId xmlns:r="http://schemas.openxmlformats.org/officeDocument/2006/relationships" id="263" r:id="R389e11d8694d48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049d2a11054ede" /><Relationship Type="http://schemas.openxmlformats.org/officeDocument/2006/relationships/slideMaster" Target="/ppt/slideMasters/slideMaster1.xml" Id="R2e82f33aab1442c8" /><Relationship Type="http://schemas.openxmlformats.org/officeDocument/2006/relationships/notesMaster" Target="/ppt/notesMasters/notesMaster1.xml" Id="Ra0b4de4e23354732" /><Relationship Type="http://schemas.openxmlformats.org/officeDocument/2006/relationships/presProps" Target="/ppt/presProps.xml" Id="R616a1c7cc0014f2f" /><Relationship Type="http://schemas.openxmlformats.org/officeDocument/2006/relationships/tableStyles" Target="/ppt/tableStyles.xml" Id="R1e3b697112304ec9" /><Relationship Type="http://schemas.openxmlformats.org/officeDocument/2006/relationships/slide" Target="/ppt/slides/slide1.xml" Id="R5224fcbd931340e2" /><Relationship Type="http://schemas.openxmlformats.org/officeDocument/2006/relationships/slide" Target="/ppt/slides/slide2.xml" Id="R501a97d3f0c44d6a" /><Relationship Type="http://schemas.openxmlformats.org/officeDocument/2006/relationships/slide" Target="/ppt/slides/slide3.xml" Id="Ra23122bd462a431c" /><Relationship Type="http://schemas.openxmlformats.org/officeDocument/2006/relationships/slide" Target="/ppt/slides/slide4.xml" Id="R6e191ab9c2984756" /><Relationship Type="http://schemas.openxmlformats.org/officeDocument/2006/relationships/slide" Target="/ppt/slides/slide5.xml" Id="Rd96c8b4be221415a" /><Relationship Type="http://schemas.openxmlformats.org/officeDocument/2006/relationships/slide" Target="/ppt/slides/slide6.xml" Id="R3675a1d8d69a4638" /><Relationship Type="http://schemas.openxmlformats.org/officeDocument/2006/relationships/slide" Target="/ppt/slides/slide7.xml" Id="R0c55724845ee4dce" /><Relationship Type="http://schemas.openxmlformats.org/officeDocument/2006/relationships/slide" Target="/ppt/slides/slide8.xml" Id="R389e11d8694d48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41f7365a3742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213f08ca6c4c06" /><Relationship Type="http://schemas.openxmlformats.org/officeDocument/2006/relationships/notesMaster" Target="/ppt/notesMasters/notesMaster1.xml" Id="R1e634c5a2d2649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67462c3afc4383" /><Relationship Type="http://schemas.openxmlformats.org/officeDocument/2006/relationships/notesMaster" Target="/ppt/notesMasters/notesMaster1.xml" Id="Rb8b5be219b3945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93ca0b390a46f6" /><Relationship Type="http://schemas.openxmlformats.org/officeDocument/2006/relationships/notesMaster" Target="/ppt/notesMasters/notesMaster1.xml" Id="R106d49bc709f41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f5085f48c34a6e" /><Relationship Type="http://schemas.openxmlformats.org/officeDocument/2006/relationships/notesMaster" Target="/ppt/notesMasters/notesMaster1.xml" Id="Rb5aa114cf1d043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e14f8695e7468e" /><Relationship Type="http://schemas.openxmlformats.org/officeDocument/2006/relationships/notesMaster" Target="/ppt/notesMasters/notesMaster1.xml" Id="R5c07039e793047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7b52072b884891" /><Relationship Type="http://schemas.openxmlformats.org/officeDocument/2006/relationships/notesMaster" Target="/ppt/notesMasters/notesMaster1.xml" Id="Re19447a58a9144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e149d744fd4066" /><Relationship Type="http://schemas.openxmlformats.org/officeDocument/2006/relationships/notesMaster" Target="/ppt/notesMasters/notesMaster1.xml" Id="Rcdc505b5b9b64b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1f136bbdbb4e6a" /><Relationship Type="http://schemas.openxmlformats.org/officeDocument/2006/relationships/notesMaster" Target="/ppt/notesMasters/notesMaster1.xml" Id="R834052e5b3894b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f04ccbbd34d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062fa8a5f54382" /><Relationship Type="http://schemas.openxmlformats.org/officeDocument/2006/relationships/slideLayout" Target="/ppt/slideLayouts/slideLayout1.xml" Id="R44ac025c3a6b45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ac025c3a6b45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7d4f545534cf1" /><Relationship Type="http://schemas.openxmlformats.org/officeDocument/2006/relationships/image" Target="/ppt/media/image.png" Id="Rd7d3be8fa8b7465a" /><Relationship Type="http://schemas.openxmlformats.org/officeDocument/2006/relationships/notesSlide" Target="/ppt/notesSlides/notesSlide1.xml" Id="R74d9a0092f7643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60664818f46c5" /><Relationship Type="http://schemas.openxmlformats.org/officeDocument/2006/relationships/image" Target="/ppt/media/image2.png" Id="R9f4fca0d9e4442a1" /><Relationship Type="http://schemas.openxmlformats.org/officeDocument/2006/relationships/notesSlide" Target="/ppt/notesSlides/notesSlide2.xml" Id="Rcbdd9b9b80664a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ca991f8104943" /><Relationship Type="http://schemas.openxmlformats.org/officeDocument/2006/relationships/notesSlide" Target="/ppt/notesSlides/notesSlide3.xml" Id="Rb3a3bc767ecf4d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5e740f8af4b9c" /><Relationship Type="http://schemas.openxmlformats.org/officeDocument/2006/relationships/notesSlide" Target="/ppt/notesSlides/notesSlide4.xml" Id="R9c04588f727a45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35422e9514ab5" /><Relationship Type="http://schemas.openxmlformats.org/officeDocument/2006/relationships/notesSlide" Target="/ppt/notesSlides/notesSlide5.xml" Id="Ra656953d8d9845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a14f684054344" /><Relationship Type="http://schemas.openxmlformats.org/officeDocument/2006/relationships/image" Target="/ppt/media/image3.png" Id="Ra94c3b7610f94b76" /><Relationship Type="http://schemas.openxmlformats.org/officeDocument/2006/relationships/notesSlide" Target="/ppt/notesSlides/notesSlide6.xml" Id="R7a3fd665025f49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6501d1c72465b" /><Relationship Type="http://schemas.openxmlformats.org/officeDocument/2006/relationships/notesSlide" Target="/ppt/notesSlides/notesSlide7.xml" Id="Ra17e85049db842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e8c233ce44b95" /><Relationship Type="http://schemas.openxmlformats.org/officeDocument/2006/relationships/notesSlide" Target="/ppt/notesSlides/notesSlide8.xml" Id="R3aa24107331944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7FC710-F0D3-489E-BECB-37B12763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E8387-456D-4637-813B-18CFC859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Realtime</a:t>
            </a:r>
          </a:p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ChatApp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113E5-7827-4428-816E-66230C23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16B"/>
                </a:solidFill>
              </a:defRPr>
            </a:pPr>
            <a:r>
              <a:rPr sz="1800">
                <a:solidFill>
                  <a:srgbClr val="5B616B"/>
                </a:solidFill>
              </a:rPr>
              <a:t>A calm, real-time workspace for direct and group conversations.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D481C-346F-40A8-A1F8-7641516E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4476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5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5D56A-57C1-4D8B-A617-C18D9D1F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6CBD"/>
                </a:solidFill>
              </a:defRPr>
            </a:pPr>
            <a:r>
              <a:rPr sz="1275" b="1">
                <a:solidFill>
                  <a:srgbClr val="0F6CBD"/>
                </a:solidFill>
              </a:rPr>
              <a:t>Django  ·  React  ·  Fluent UI  ·  SQLite3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3be8fa8b7465a"/>
          <a:srcRect xmlns:a="http://schemas.openxmlformats.org/drawingml/2006/main" l="12172" t="0" r="12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876300"/>
            <a:ext cx="495300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6EAC8-3F4D-4C4F-83DC-976BE0D5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16B"/>
                </a:solidFill>
              </a:defRPr>
            </a:pPr>
            <a:r>
              <a:rPr sz="1125">
                <a:solidFill>
                  <a:srgbClr val="5B616B"/>
                </a:solidFill>
              </a:rPr>
              <a:t>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6392D-1C4E-468B-8C83-25549D0B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37370-0974-4FDB-9E62-F8E44BAF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Realtime ChatApp  ·  Django + React + Fluent UI + SQLite3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AA0BE-6E40-455F-87FC-CFC8A9EF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929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4193E-8496-4F83-B5F4-D0432B10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WHY THIS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A1450-B092-490A-82F8-92941934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One focused surface keeps conversation moving.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41F63-387E-42DC-89C7-DC37D85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16B"/>
                </a:solidFill>
              </a:defRPr>
            </a:pPr>
            <a:r>
              <a:rPr sz="1425">
                <a:solidFill>
                  <a:srgbClr val="5B616B"/>
                </a:solidFill>
              </a:rPr>
              <a:t>Realtime ChatApp turns messaging primitives into a small, testable product surface.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C2BC6-92A4-4D34-BAD2-9A1BFEE0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fca0d9e4442a1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152650"/>
            <a:ext cx="5715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C2666-2E03-4327-99A1-374FFCDD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50673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6CD22-6A93-44AA-A5F1-15CC1833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The product promise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75107-966B-4A84-B6CB-E832EC9C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6CBD"/>
                </a:solidFill>
              </a:defRPr>
            </a:pPr>
            <a:r>
              <a:rPr sz="1500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8E8EF-13F3-41DF-B39D-932D592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33700"/>
            <a:ext cx="410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Direct messages and group conversations in one workspace.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40FEE-BE87-4F67-8389-EEB7C351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6CBD"/>
                </a:solidFill>
              </a:defRPr>
            </a:pPr>
            <a:r>
              <a:rPr sz="1500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B513D-39C4-44C9-B6E6-5B7BE42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43300"/>
            <a:ext cx="410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Replies, reactions, forwarding, typing, and read states feel native.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79C4A-2AD6-4B73-8B47-4D8D7835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053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6CBD"/>
                </a:solidFill>
              </a:defRPr>
            </a:pPr>
            <a:r>
              <a:rPr sz="1500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6FCCD-743D-4359-8E95-0ECA4930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24350"/>
            <a:ext cx="410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Keyboard-first interaction with light and dark Fluent UI themes.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CDC60-0F66-4EBA-90CF-80894A06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67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6CBD"/>
                </a:solidFill>
              </a:defRPr>
            </a:pPr>
            <a:r>
              <a:rPr sz="1275" b="1">
                <a:solidFill>
                  <a:srgbClr val="0F6CBD"/>
                </a:solidFill>
              </a:rPr>
              <a:t>Outcome: a credible demo foundation that is easy to extend.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864FD-108D-4CD9-B4DE-0D13308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A229D-0315-4657-9710-62615C7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Realtime ChatApp  ·  Django + React + Fluent UI + SQLite3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2EA84-3354-486B-8551-BCBF0D9D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3752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17DEF5-3B67-4FF8-A4F4-6E461BA3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FRONTEND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029F7-4CB4-4857-A7DD-850DF014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React keeps the interaction model modular.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6D21B-76F1-429F-9ED9-3858CAB9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16B"/>
                </a:solidFill>
              </a:defRPr>
            </a:pPr>
            <a:r>
              <a:rPr sz="1425">
                <a:solidFill>
                  <a:srgbClr val="5B616B"/>
                </a:solidFill>
              </a:rPr>
              <a:t>Vite bundles the app; Fluent UI supplies accessible controls and tokens.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D2D92-D65A-4C9C-84BA-CD853409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94DAE-CB1D-4A4A-ABF3-20650D08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476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3A702-7875-4DBE-9E61-95702199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48A0-5314-4F19-AC0D-1E170EFC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Routes &amp;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D81A7-1946-48DF-B91D-2EE9E3EE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205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16B"/>
                </a:solidFill>
              </a:defRPr>
            </a:pPr>
            <a:r>
              <a:rPr sz="1275">
                <a:solidFill>
                  <a:srgbClr val="5B616B"/>
                </a:solidFill>
              </a:rPr>
              <a:t>Landing, auth, chat, profile, settings, password reset.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2D4ED-ABA5-4DA8-8ADA-8F8B29EE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6CBD"/>
                </a:solidFill>
              </a:defRPr>
            </a:pPr>
            <a:r>
              <a:rPr sz="1125" b="1">
                <a:solidFill>
                  <a:srgbClr val="0F6CB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3C356-1F48-4CA3-BB2A-DA248BC2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2476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AC24D-FE14-40BD-A75D-730592A6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CB875-0DDB-46DC-8F11-4C6B7EC2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Chat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B5042-099A-4B0F-9B07-78D5B8D0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205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16B"/>
                </a:solidFill>
              </a:defRPr>
            </a:pPr>
            <a:r>
              <a:rPr sz="1275">
                <a:solidFill>
                  <a:srgbClr val="5B616B"/>
                </a:solidFill>
              </a:rPr>
              <a:t>Sidebar, chat header, timeline, composer, dialogs and drawers.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46756-88A5-4E48-83A2-8BD6B24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12AD2-184B-410C-B78E-B71B7A29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476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11857-9576-4BB1-BEF0-4AA6BFAB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B97C3-BCDA-4382-9424-047CBDF9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6A0CB-CD54-4E69-A0C2-31D2BE96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05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16B"/>
                </a:solidFill>
              </a:defRPr>
            </a:pPr>
            <a:r>
              <a:rPr sz="1275">
                <a:solidFill>
                  <a:srgbClr val="5B616B"/>
                </a:solidFill>
              </a:rPr>
              <a:t>Auth, users, conversations, messages, attachments and settings APIs.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4B0CF-8E62-469C-B9C4-27209DDE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4BB7"/>
                </a:solidFill>
              </a:defRPr>
            </a:pPr>
            <a:r>
              <a:rPr sz="1125" b="1">
                <a:solidFill>
                  <a:srgbClr val="5B4BB7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AAC83-D0FB-43B5-B78D-745D8549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476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1E897-4600-4D8E-9B86-2D25037A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1F682-6CE6-48E9-8626-5D2B69F7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State &amp; theme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B74B1-B53D-4B19-811E-52280622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2057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16B"/>
                </a:solidFill>
              </a:defRPr>
            </a:pPr>
            <a:r>
              <a:rPr sz="1275">
                <a:solidFill>
                  <a:srgbClr val="5B616B"/>
                </a:solidFill>
              </a:rPr>
              <a:t>Auth context, API client, WebSocket hook, FluentProvider and tokens.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80114-7D0A-4530-9927-5B1F157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7C10"/>
                </a:solidFill>
              </a:defRPr>
            </a:pPr>
            <a:r>
              <a:rPr sz="1125" b="1">
                <a:solidFill>
                  <a:srgbClr val="107C10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7E66E-C057-4638-BBF9-C1E295A7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36336-1972-4546-B716-8821A68A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UI composition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CA5CCC-E5CA-4CE9-AE9F-3582321C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Pages → feature components → API + realtime hooks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4D378-4122-4867-A3CD-8647A85B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The result is a frontend that can plug into the Django backend or be replaced by another client.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5D646-16C0-49F4-9249-D8FF420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E0CFDB-8862-4376-9B82-BB26AA35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Realtime ChatApp  ·  Django + React + Fluent UI + SQLite3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41AF83-2898-4313-BCED-D7F6E592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9487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388C94-51FC-42FE-B377-B7BB125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BACKEND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F9964-8ADB-491A-8BF0-1ABC77F6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Django owns the data model, API contract, and realtime events.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54320-4A2D-46A8-9CC3-A60AD5A9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16B"/>
                </a:solidFill>
              </a:defRPr>
            </a:pPr>
            <a:r>
              <a:rPr sz="1425">
                <a:solidFill>
                  <a:srgbClr val="5B616B"/>
                </a:solidFill>
              </a:rPr>
              <a:t>The backend is intentionally explicit: each chat capability maps to a small module.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54D42-9D48-4D01-A58D-E3C4E77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0B38B-54D6-4750-9E2D-21965F74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334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6687E-3BE0-4594-9EF8-23A6C61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Django / DRF / 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46C84-790D-46C7-AF57-A23B9792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D3FF"/>
                </a:solidFill>
              </a:defRPr>
            </a:pPr>
            <a:r>
              <a:rPr sz="1125" b="1">
                <a:solidFill>
                  <a:srgbClr val="9AD3FF"/>
                </a:solidFill>
              </a:rPr>
              <a:t>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9A1EE-1DA6-4110-ABF1-7E35ACC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908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User · Conversation · Membership · Message · Reaction · Attachment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96763-71CC-4B9B-BA2C-C5567975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9C045-712E-4E4D-B053-593C9610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D3FF"/>
                </a:solidFill>
              </a:defRPr>
            </a:pPr>
            <a:r>
              <a:rPr sz="1125" b="1">
                <a:solidFill>
                  <a:srgbClr val="9AD3FF"/>
                </a:solidFill>
              </a:rPr>
              <a:t>REST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63D37-737A-4180-A9F0-67A219E2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62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Auth, users, conversations, messages, settings and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2D236-0D07-4B44-9589-1B73F6D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383C1-949B-4E1C-927D-D1D0E04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D3FF"/>
                </a:solidFill>
              </a:defRPr>
            </a:pPr>
            <a:r>
              <a:rPr sz="1125" b="1">
                <a:solidFill>
                  <a:srgbClr val="9AD3FF"/>
                </a:solidFill>
              </a:rPr>
              <a:t>Realtime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C7871-D904-4CCD-BA50-AF86280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338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ASGI WebSocket consumer, typing and delivery 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C9188-44BA-4B2A-8E0E-DA5625D1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5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61D14-8DB3-4234-B1BC-DDACD41D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D3FF"/>
                </a:solidFill>
              </a:defRPr>
            </a:pPr>
            <a:r>
              <a:rPr sz="1125" b="1">
                <a:solidFill>
                  <a:srgbClr val="9AD3FF"/>
                </a:solidFill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2D83F-3649-4376-9AAB-8F1BB3A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05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Seed demo command, migrations, test suite and CORS settings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E1EB4-CBFB-4011-8E1E-D1766B1D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50673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ABB8E-A204-41EC-AE5F-294E177B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Storage and boundaries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4577B-BD5B-4897-8046-5F06052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6CBD"/>
                </a:solidFill>
              </a:defRPr>
            </a:pPr>
            <a:r>
              <a:rPr sz="1500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16B53-56F7-4AEA-8A87-A8DDCFA4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SQLite3 is the local development database.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89D61-0580-46AD-B314-0FD96EDA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81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6CBD"/>
                </a:solidFill>
              </a:defRPr>
            </a:pPr>
            <a:r>
              <a:rPr sz="1500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BF43D-8188-4651-BFF7-A1CBE81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Token authentication protects REST requests.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A7BEE-B387-4065-ABF8-82CD0823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6CBD"/>
                </a:solidFill>
              </a:defRPr>
            </a:pPr>
            <a:r>
              <a:rPr sz="1500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AE566-D035-4019-AC71-DB31A348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Channels keeps WebSocket delivery separate from CRUD.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0B2746-F19C-4573-9A69-2C8E3BA8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24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6CBD"/>
                </a:solidFill>
              </a:defRPr>
            </a:pPr>
            <a:r>
              <a:rPr sz="1500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9F377-7E23-437B-81BF-38083912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Environment variables control API URL and CORS.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61305-D979-4AF8-A888-72DEB2DC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EACDBB-A661-4AFF-B038-66E81260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Realtime ChatApp  ·  Django + React + Fluent UI + SQLite3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B07E6-5735-4A9B-A828-727638BF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1398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C21344-03FC-4A94-A7F0-956EE62C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528E4-BA2C-4D26-91F3-4163D29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Two transport paths, one source of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2BF75-0C18-4A3D-B598-EF2846BE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16B"/>
                </a:solidFill>
              </a:defRPr>
            </a:pPr>
            <a:r>
              <a:rPr sz="1425">
                <a:solidFill>
                  <a:srgbClr val="5B616B"/>
                </a:solidFill>
              </a:rPr>
              <a:t>REST handles commands and queries; WebSocket carries events to every connected client.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137F6-2737-473E-A8F0-5EBC022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167E0-3414-4E91-BBDE-4C1A1805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5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17370-002E-4C86-A1DE-3E2CE72A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6F0EA-F1EE-4778-AC20-6A5E879C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React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7B2C5-3FD2-4F8B-A765-653CC1DB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Pages</a:t>
            </a:r>
          </a:p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Fluent UI</a:t>
            </a:r>
          </a:p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API + WS hooks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2FBCF-09A4-407F-BFC3-3D419587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70839-3228-4B4B-B98B-8E6324FC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90D27-C946-45D0-8270-9BAD12FF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28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Django ASGI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D7844-D6C4-4547-B1DB-89E3AD8E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24250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DRF endpoints</a:t>
            </a:r>
          </a:p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Channels consumer</a:t>
            </a:r>
          </a:p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Auth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E00B2-E95A-4C2D-8387-76DF109B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589EE-EC29-4FE7-BBFA-23BB11CE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D39D6-8F6C-4E4B-B136-696AF5E5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SQLite3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C80DF-B9A5-44B2-8630-65E86DB7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Users</a:t>
            </a:r>
          </a:p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Conversations</a:t>
            </a:r>
          </a:p>
          <a:p xmlns:a="http://schemas.openxmlformats.org/drawingml/2006/main">
            <a:pPr>
              <a:defRPr sz="1350">
                <a:solidFill>
                  <a:srgbClr val="5B616B"/>
                </a:solidFill>
              </a:defRPr>
            </a:pPr>
            <a:r>
              <a:rPr sz="1350">
                <a:solidFill>
                  <a:srgbClr val="5B616B"/>
                </a:solidFill>
              </a:rPr>
              <a:t>Messages +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2BF3B-8CBC-4B0A-9C22-4B2AF607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76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6CBD"/>
                </a:solidFill>
              </a:defRPr>
            </a:pPr>
            <a:r>
              <a:rPr sz="1350" b="1">
                <a:solidFill>
                  <a:srgbClr val="0F6CBD"/>
                </a:solidFill>
              </a:rPr>
              <a:t>REST  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4E4CA-D5F5-48F0-BC44-9FCC7322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WS events 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CD44F-A196-452E-9DDF-01055B3B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16B"/>
                </a:solidFill>
              </a:defRPr>
            </a:pPr>
            <a:r>
              <a:rPr sz="975">
                <a:solidFill>
                  <a:srgbClr val="5B616B"/>
                </a:solidFill>
              </a:rPr>
              <a:t>queries + commands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ADC78-B6D9-4D80-9FCF-55BA563A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16B"/>
                </a:solidFill>
              </a:defRPr>
            </a:pPr>
            <a:r>
              <a:rPr sz="975">
                <a:solidFill>
                  <a:srgbClr val="5B616B"/>
                </a:solidFill>
              </a:rPr>
              <a:t>broadcast 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7F5CD-5CBD-4A9B-831E-0050924E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7C10"/>
                </a:solidFill>
              </a:defRPr>
            </a:pPr>
            <a:r>
              <a:rPr sz="1350" b="1">
                <a:solidFill>
                  <a:srgbClr val="107C10"/>
                </a:solidFill>
              </a:rPr>
              <a:t>Persist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4E480-97CC-460B-9C2B-B4FDB57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The UI can optimistically render a message, then reconcile with the server response.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BCF3A-4398-48EF-88B6-604BB3DA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F6CDE-4C58-48EA-93F7-6650BCBD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Realtime ChatApp  ·  Django + React + Fluent UI + SQLite3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2C9BF-8828-4957-BD14-96E926B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57155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C9948C-0E5C-47BE-8CC0-04DAA9D6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DESIGN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9A3E8-5ACD-4FAA-B40F-B5989084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Fluent UI makes the product feel consistent in both themes.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6ACDF-787F-4549-B007-C2B7EACB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16B"/>
                </a:solidFill>
              </a:defRPr>
            </a:pPr>
            <a:r>
              <a:rPr sz="1425">
                <a:solidFill>
                  <a:srgbClr val="5B616B"/>
                </a:solidFill>
              </a:rPr>
              <a:t>Design tokens keep contrast, spacing, and interaction states predictable.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07DC6-AD47-4A69-B141-CFB2364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c3b7610f94b76"/>
          <a:srcRect xmlns:a="http://schemas.openxmlformats.org/drawingml/2006/main" l="5138" t="0" r="51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190750"/>
            <a:ext cx="495300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00745-40E0-4C25-8A0C-C0276946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58293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DEE01-053E-478A-A264-4A180057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Theme building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C5AE2-EDC8-491F-889D-613EB8F1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CBD"/>
                </a:solidFill>
              </a:defRPr>
            </a:pPr>
            <a:r>
              <a:rPr sz="1200" b="1">
                <a:solidFill>
                  <a:srgbClr val="0F6CBD"/>
                </a:solidFill>
              </a:rPr>
              <a:t>FluentProvider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735E4-08D1-4EB1-ADBB-08EB574F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Light / dark theme switching at the app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AF4AB-805F-4B83-B99E-2ABAC8A0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D9DBC-45B6-4BDE-8FC2-FB5C4B99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05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CBD"/>
                </a:solidFill>
              </a:defRPr>
            </a:pPr>
            <a:r>
              <a:rPr sz="1200" b="1">
                <a:solidFill>
                  <a:srgbClr val="0F6CBD"/>
                </a:solidFill>
              </a:rPr>
              <a:t>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CB931-85D1-439E-9C22-3AC7512A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Neutral foregrounds, brand surfaces, spacing and typography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B5212-ED8B-4B9C-94D7-A636644B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E7FE0-827A-472E-A30F-A636366C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CBD"/>
                </a:solidFill>
              </a:defRPr>
            </a:pPr>
            <a:r>
              <a:rPr sz="1200" b="1">
                <a:solidFill>
                  <a:srgbClr val="0F6CBD"/>
                </a:solidFill>
              </a:rPr>
              <a:t>Griffel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044A7-D267-4C84-9331-83EF006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@griffel/react generates scoped, theme-aware 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C78E6-EC3A-4E54-AA5F-81F86D52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2265C-BEDC-41A3-9BBF-B5CE56C7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33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CBD"/>
                </a:solidFill>
              </a:defRPr>
            </a:pPr>
            <a:r>
              <a:rPr sz="1200" b="1">
                <a:solidFill>
                  <a:srgbClr val="0F6CBD"/>
                </a:solidFill>
              </a:rPr>
              <a:t>Accessibility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F25A8-6177-4F87-90A1-DAE75DF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Fluent controls, focus states and readable contrast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EB7EA-C973-4DC1-A9BF-8E923B7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00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Visual check: dark-theme labels and feature icons use semantic foreground tokens, not hard-coded black.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68063-E975-4A87-8347-3AF5324A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E6EB2-8E0D-4D4B-A46D-2AA6AC8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Realtime ChatApp  ·  Django + React + Fluent UI + SQLite3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A21CB-741D-483B-B589-019D656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3157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78294A-5C6C-4D43-BFA0-3277B2C2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QUALITY &amp;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7A513-C257-40E0-A342-B1157F04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repo is demoable because the workflow is testable.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971B0-33CA-4BBC-A99C-03A50D44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16B"/>
                </a:solidFill>
              </a:defRPr>
            </a:pPr>
            <a:r>
              <a:rPr sz="1425">
                <a:solidFill>
                  <a:srgbClr val="5B616B"/>
                </a:solidFill>
              </a:rPr>
              <a:t>Local commands and GitHub Actions cover the same critical paths a contributor 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5AA53-B1F1-4AA4-8729-472EF18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A4714-F01A-47D1-BF43-FFE80B26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4765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C6E31-8674-4971-A397-82B0F0EC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CBD"/>
                </a:solidFill>
              </a:defRPr>
            </a:pPr>
            <a:r>
              <a:rPr sz="1050" b="1">
                <a:solidFill>
                  <a:srgbClr val="0F6CB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29871-D395-4D61-93A4-460606B0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Django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6D168-D5CF-459A-8E8C-018F883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Models, auth, message and API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C61D0-3907-4C11-A5DE-60168C23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66950"/>
            <a:ext cx="24765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FC9C7-E089-422F-AEE5-31C1300D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67FFF-EE9D-46C6-8C4B-AF83A463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Playwright E2E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F64AB-7DCF-404B-8ACC-F96FB0A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Sign in, reload, send, group, WebSocket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EA311-68D7-4E10-BA7C-98F274F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4765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5D24E-6905-4F7D-9B0D-31509E70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4BB7"/>
                </a:solidFill>
              </a:defRPr>
            </a:pPr>
            <a:r>
              <a:rPr sz="1050" b="1">
                <a:solidFill>
                  <a:srgbClr val="5B4BB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86CFC-A33B-4E18-89AD-CB19047D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Lint +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A8802-0C7E-4BAA-BBB0-3E7C8852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ESLint checks and Vite production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B8AC3-A6CF-48A0-AF2B-E838EAAC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4765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0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D29A0-00B4-4836-91C7-BF5AD028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7C10"/>
                </a:solidFill>
              </a:defRPr>
            </a:pPr>
            <a:r>
              <a:rPr sz="1050" b="1">
                <a:solidFill>
                  <a:srgbClr val="107C1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23B04-77DF-45C4-A0AD-77E646ED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CI on GitHub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46385-4675-497D-8B37-EF81400C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Runs on push and pull 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7F6B9-224C-4296-8264-26B1FB4D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0B9B0-8293-483D-8BC3-95D69F9F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npm run lint   ·   npm run build   ·   python backend/manage.py test chat   ·   npm run e2e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36F56-1593-4490-AE38-4C49FA5A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16B"/>
                </a:solidFill>
              </a:defRPr>
            </a:pPr>
            <a:r>
              <a:rPr sz="1200">
                <a:solidFill>
                  <a:srgbClr val="5B616B"/>
                </a:solidFill>
              </a:rPr>
              <a:t>CI validates the application; deployment remains a separate environment decision.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37A4D-F802-4FCC-A2B0-EA45DDBF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57A7A-32AB-4CB1-BE8D-C4711E16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Realtime ChatApp  ·  Django + React + Fluent UI + SQLite3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F4CE1-D0AA-4FB1-AAF5-3266579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50341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6FAF6-7199-4646-A5DA-1C7E1238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CFA37-C81D-4A99-83F1-BD10C4F3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Ready to run, test,</a:t>
            </a:r>
          </a:p>
          <a:p xmlns:a="http://schemas.openxmlformats.org/drawingml/2006/main">
            <a:pPr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and extend.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2DA30-EBFB-4AB6-948B-B5B42190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16B"/>
                </a:solidFill>
              </a:defRPr>
            </a:pPr>
            <a:r>
              <a:rPr sz="1725">
                <a:solidFill>
                  <a:srgbClr val="5B616B"/>
                </a:solidFill>
              </a:rPr>
              <a:t>A compact full-stack baseline for a production-minded chat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F41DB-713E-4DA7-AE1F-25F1305F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4953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5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25424-A795-44C6-8791-6DC5C0E0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CBD"/>
                </a:solidFill>
              </a:defRPr>
            </a:pPr>
            <a:r>
              <a:rPr sz="1200" b="1">
                <a:solidFill>
                  <a:srgbClr val="0F6CBD"/>
                </a:solidFill>
              </a:rPr>
              <a:t>Local URLs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45AB5-E298-4A3F-AE5A-C750E90B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Frontend  http://127.0.0.1:4173/</a:t>
            </a:r>
          </a:p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API  http://127.0.0.1:8000/api/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FBE68-C75C-4E9A-93FB-607D6112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66800"/>
            <a:ext cx="4191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49FC5-69AB-4B2C-8349-12A4F08F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28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Extend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4C6CB-8BA7-4974-BE67-5F290D9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57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6CBD"/>
                </a:solidFill>
              </a:defRPr>
            </a:pPr>
            <a:r>
              <a:rPr sz="1425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76A96-2B74-47C9-AF76-10D03873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764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7E9EC"/>
                </a:solidFill>
              </a:defRPr>
            </a:pPr>
            <a:r>
              <a:rPr sz="1275">
                <a:solidFill>
                  <a:srgbClr val="E7E9EC"/>
                </a:solidFill>
              </a:rPr>
              <a:t>Deploy the frontend and backend separately.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FA3D4-06F5-4F8E-B37D-2B821E1D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6CBD"/>
                </a:solidFill>
              </a:defRPr>
            </a:pPr>
            <a:r>
              <a:rPr sz="1425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70A60-7163-4EF1-9F66-310799E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7E9EC"/>
                </a:solidFill>
              </a:defRPr>
            </a:pPr>
            <a:r>
              <a:rPr sz="1275">
                <a:solidFill>
                  <a:srgbClr val="E7E9EC"/>
                </a:solidFill>
              </a:rPr>
              <a:t>Move SQLite to a durable production datastore or volume.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A7AB4-9334-451B-9B9C-99B14CB2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09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6CBD"/>
                </a:solidFill>
              </a:defRPr>
            </a:pPr>
            <a:r>
              <a:rPr sz="1425" b="1">
                <a:solidFill>
                  <a:srgbClr val="0F6CB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5E39D-2504-4A35-9058-3536C7A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7E9EC"/>
                </a:solidFill>
              </a:defRPr>
            </a:pPr>
            <a:r>
              <a:rPr sz="1275">
                <a:solidFill>
                  <a:srgbClr val="E7E9EC"/>
                </a:solidFill>
              </a:rPr>
              <a:t>Add monitoring, notifications, and richer presence.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7E954-DA14-4FCE-A857-44B71EE6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F6CBD"/>
                </a:solidFill>
              </a:defRPr>
            </a:pPr>
            <a:r>
              <a:rPr sz="1050">
                <a:solidFill>
                  <a:srgbClr val="0F6CBD"/>
                </a:solidFill>
              </a:rPr>
              <a:t>github.com/toscani-tenekeu/Realtime_ChatApp_Django_ReactJS_SQLite3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BBD55-BDEE-4307-AB6F-39D844AB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0F452-C6AC-4F49-A19A-F1396CD7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Realtime ChatApp  ·  Django + React + Fluent UI + SQLite3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04BF0-1526-47D8-BE1C-E1F3BF6D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B616B"/>
                </a:solidFill>
              </a:defRPr>
            </a:pPr>
            <a:r>
              <a:rPr sz="825">
                <a:solidFill>
                  <a:srgbClr val="5B616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8482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2026-07-13T09:59:00.9880000Z</dcterms:created>
  <dcterms:modified xsi:type="dcterms:W3CDTF">2026-07-13T09:59:00.9880000Z</dcterms:modified>
</coreProperties>
</file>